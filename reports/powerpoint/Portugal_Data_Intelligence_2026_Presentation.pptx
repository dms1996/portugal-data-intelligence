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1675"/>
  <p:notesSz cx="6858000" cy="9144000"/>
  <p:embeddedFontLst>
    <p:embeddedFont>
      <p:font typeface="Quattrocento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5304A8-713D-4D7F-BC4E-349C65BB334B}">
  <a:tblStyle styleId="{9E5304A8-713D-4D7F-BC4E-349C65BB334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QuattrocentoSans-bold.fntdata"/><Relationship Id="rId25" Type="http://schemas.openxmlformats.org/officeDocument/2006/relationships/font" Target="fonts/QuattrocentoSans-regular.fntdata"/><Relationship Id="rId28" Type="http://schemas.openxmlformats.org/officeDocument/2006/relationships/font" Target="fonts/QuattrocentoSans-boldItalic.fntdata"/><Relationship Id="rId27" Type="http://schemas.openxmlformats.org/officeDocument/2006/relationships/font" Target="fonts/Quattrocento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presentation follows a strategic narrative in 3 blocks: (I) Evidence that Portugal achieved macroeconomic stability, (II) The growth and employment story, (III) Where Portugal stands relative to the EU and what comes next. This structure mirrors the Pyramid Principle: conclusion first, then supporting evidence.</a:t>
            </a:r>
            <a:endParaRPr/>
          </a:p>
        </p:txBody>
      </p:sp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TALKING POINTS: (1) Open with the thesis: Portugal's transformation is complete. (2) Walk through 3 pillars left to right: fiscal, growth, risks. (3) Emphasise that the GREEN box achievements are real but the RED box risks are the agenda for the next decade. (4) Close with the strategic implication: growth model must change from recovery-driven to productivity-driven.</a:t>
            </a:r>
            <a:endParaRPr/>
          </a:p>
        </p:txBody>
      </p:sp>
      <p:sp>
        <p:nvSpPr>
          <p:cNvPr id="101" name="Google Shape;10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TALKING POINTS: Walk through the table row by row. Emphasise the magnitude of change: unemployment halved, debt/GDP down 37pp, NPL from 17.5% to 2.2%. This is not incremental improvement — it is structural transformation. Transition: 'Now let us examine what drove this change.'</a:t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Debt-to-GDP has improved significantly from crisis peaks, aided by nominal GDP growth and primary surpluses. The trajectory is encouraging but requires continued fiscal discipline.</a:t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Credit conditions have tightened as the ECB normalised rates. NPL ratios have fallen dramatically from crisis peaks, reflecting successful bank restructuring and the GACS programme.</a:t>
            </a:r>
            <a:endParaRPr/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interest rate environment reflects ECB monetary policy normalisation after the zero lower bound period. Portugal's sovereign spread has narrowed significantly, reflecting improved fiscal credibility.</a:t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Portugal's GDP shows a consistent recovery trajectory since the sovereign debt crisis, with a sharp COVID dip in 2020 followed by strong rebound. Key talking point: cumulative growth over the period.</a:t>
            </a:r>
            <a:endParaRPr/>
          </a:p>
        </p:txBody>
      </p:sp>
      <p:sp>
        <p:nvSpPr>
          <p:cNvPr id="171" name="Google Shape;17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GDP decomposition reveals the structural shifts in Portugal's economy. Note the increasing contribution of services and the persistent current account improvement.</a:t>
            </a:r>
            <a:endParaRPr/>
          </a:p>
        </p:txBody>
      </p:sp>
      <p:sp>
        <p:nvSpPr>
          <p:cNvPr id="185" name="Google Shape;18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unemployment decline from crisis peaks is the most significant structural improvement. Youth unemployment remains a challenge, though substantially improved from 2013 highs.</a:t>
            </a:r>
            <a:endParaRPr/>
          </a:p>
        </p:txBody>
      </p:sp>
      <p:sp>
        <p:nvSpPr>
          <p:cNvPr id="196" name="Google Shape;19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2022-2023 inflation spike was primarily energy and supply-chain driven. Core inflation proved stickier. The return towards the 2% target is ongoing but gradual.</a:t>
            </a:r>
            <a:endParaRPr/>
          </a:p>
        </p:txBody>
      </p:sp>
      <p:sp>
        <p:nvSpPr>
          <p:cNvPr id="211" name="Google Shape;21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benchmarks Portugal against EU averages across all six pillars. The radar chart shows relative positioning, while the small multiples reveal the convergence trajectory over time.</a:t>
            </a:r>
            <a:endParaRPr/>
          </a:p>
        </p:txBody>
      </p:sp>
      <p:sp>
        <p:nvSpPr>
          <p:cNvPr id="226" name="Google Shape;226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heatmap reveals the expected negative GDP-unemployment correlation and positive interest rate-inflation linkages. These relationships are key for policy scenario analysis.</a:t>
            </a:r>
            <a:endParaRPr/>
          </a:p>
        </p:txBody>
      </p:sp>
      <p:sp>
        <p:nvSpPr>
          <p:cNvPr id="238" name="Google Shape;23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major shocks define the period: the sovereign debt crisis (2011-2014), COVID-19 (2020-2021), and the energy crisis (2022-2023). Each had distinct transmission mechanisms.</a:t>
            </a:r>
            <a:endParaRPr/>
          </a:p>
        </p:txBody>
      </p:sp>
      <p:sp>
        <p:nvSpPr>
          <p:cNvPr id="250" name="Google Shape;25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risk matrix synthesises our assessment across all pillars. Green indicators reflect the structural improvements achieved; amber and red flags highlight areas requiring continued policy attention.</a:t>
            </a:r>
            <a:endParaRPr/>
          </a:p>
        </p:txBody>
      </p:sp>
      <p:sp>
        <p:nvSpPr>
          <p:cNvPr id="262" name="Google Shape;26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recommendations are structured by time horizon. Short-term actions focus on monitoring and adjustment; medium-term on structural reform; long-term on resilience building.</a:t>
            </a:r>
            <a:endParaRPr/>
          </a:p>
        </p:txBody>
      </p:sp>
      <p:sp>
        <p:nvSpPr>
          <p:cNvPr id="272" name="Google Shape;272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D4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 Data Intelligence 2026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5EB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Macroeconomic Analysis 2010–2025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4114800" y="3749039"/>
            <a:ext cx="3931920" cy="27432"/>
          </a:xfrm>
          <a:prstGeom prst="rect">
            <a:avLst/>
          </a:prstGeom>
          <a:gradFill>
            <a:gsLst>
              <a:gs pos="0">
                <a:srgbClr val="386641"/>
              </a:gs>
              <a:gs pos="50000">
                <a:srgbClr val="D4A373"/>
              </a:gs>
              <a:gs pos="100000">
                <a:srgbClr val="9B222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914400" y="1188720"/>
            <a:ext cx="100584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I.  STABILITY ACHIEVED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▸  Executive Summary &amp; Scorecard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▸  Fiscal Transformation &amp; Debt Sustainability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▸  Banking System Cleanup</a:t>
            </a:r>
            <a:endParaRPr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II.  GROWTH &amp; EMPLOYMENT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▸  GDP Recovery Trajectory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▸  Labour Market Turnaround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▸  Inflation: From Deflation to Target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▸  Financial Conditions</a:t>
            </a:r>
            <a:endParaRPr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III.  POSITION &amp; OUTLOOK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▸  EU Benchmarking &amp; Convergence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▸  Cross-Pillar Dynamics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▸  Risk Matrix &amp; Strategic Recommendations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 Data Intelligence  |  Slide 2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457200" y="181025"/>
            <a:ext cx="683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8664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Agenda</a:t>
            </a:r>
            <a:endParaRPr>
              <a:solidFill>
                <a:srgbClr val="386641"/>
              </a:solidFill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457200" y="5855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383525" y="935377"/>
            <a:ext cx="11320800" cy="26400"/>
          </a:xfrm>
          <a:prstGeom prst="rect">
            <a:avLst/>
          </a:prstGeom>
          <a:gradFill>
            <a:gsLst>
              <a:gs pos="0">
                <a:srgbClr val="386641"/>
              </a:gs>
              <a:gs pos="50000">
                <a:srgbClr val="D4A373"/>
              </a:gs>
              <a:gs pos="100000">
                <a:srgbClr val="9B222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B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 completed the most significant macroeconomic transformation in the Eurozone: from bailout recipient to fiscal surplus in one decade.</a:t>
            </a:r>
            <a:endParaRPr>
              <a:solidFill>
                <a:srgbClr val="2B2D42"/>
              </a:solidFill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731520" y="2194560"/>
            <a:ext cx="3200400" cy="2560320"/>
          </a:xfrm>
          <a:prstGeom prst="roundRect">
            <a:avLst>
              <a:gd fmla="val 16667" name="adj"/>
            </a:avLst>
          </a:prstGeom>
          <a:solidFill>
            <a:srgbClr val="E8F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8664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FISCAL STABILITY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137.5% → 97.6%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Debt/GDP</a:t>
            </a:r>
            <a:endParaRPr/>
          </a:p>
          <a:p>
            <a:pPr indent="0" lvl="0" marL="0" marR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3.8% of GDP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Budget Balance</a:t>
            </a:r>
            <a:endParaRPr/>
          </a:p>
          <a:p>
            <a:pPr indent="0" lvl="0" marL="0" marR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2.2%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NPL Ratio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4206240" y="2194560"/>
            <a:ext cx="3200400" cy="2560320"/>
          </a:xfrm>
          <a:prstGeom prst="roundRect">
            <a:avLst>
              <a:gd fmla="val 16667" name="adj"/>
            </a:avLst>
          </a:prstGeom>
          <a:solidFill>
            <a:srgbClr val="FEF9E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A6F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GROWTH &amp; EMPLOYMENT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75.2%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Cumulative GDP Growth</a:t>
            </a:r>
            <a:endParaRPr/>
          </a:p>
          <a:p>
            <a:pPr indent="0" lvl="0" marL="0" marR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18.2% → 5.6%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Unemployment</a:t>
            </a:r>
            <a:endParaRPr/>
          </a:p>
          <a:p>
            <a:pPr indent="0" lvl="0" marL="0" marR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€28.4bn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GDP per Capita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7680960" y="2194560"/>
            <a:ext cx="3200400" cy="2560320"/>
          </a:xfrm>
          <a:prstGeom prst="roundRect">
            <a:avLst>
              <a:gd fmla="val 16667" name="adj"/>
            </a:avLst>
          </a:prstGeom>
          <a:solidFill>
            <a:srgbClr val="F0AFB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RISKS TO WATCH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18.6%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Youth Unemployment</a:t>
            </a:r>
            <a:endParaRPr/>
          </a:p>
          <a:p>
            <a:pPr indent="0" lvl="0" marL="0" marR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+17 pp above EU average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Debt/GDP vs EU Gap</a:t>
            </a:r>
            <a:endParaRPr/>
          </a:p>
          <a:p>
            <a:pPr indent="0" lvl="0" marL="0" marR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GDP/capita ~70% of EU avg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Productivity Gap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731520" y="5120640"/>
            <a:ext cx="10515600" cy="822960"/>
          </a:xfrm>
          <a:prstGeom prst="roundRect">
            <a:avLst>
              <a:gd fmla="val 16667" name="adj"/>
            </a:avLst>
          </a:prstGeom>
          <a:solidFill>
            <a:srgbClr val="FDF6E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IMPLICATION:  </a:t>
            </a:r>
            <a:r>
              <a:rPr lang="en-US" sz="11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era of easy growth (crisis recovery + inflation-driven nominal expansion) is ending. Future convergence depends on productivity gains, not cyclical tailwinds.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 Data Intelligence  |  Slide 3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57200" y="181025"/>
            <a:ext cx="683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8664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Economic Dashboard</a:t>
            </a:r>
            <a:endParaRPr>
              <a:solidFill>
                <a:srgbClr val="386641"/>
              </a:solidFill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471458" y="5855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B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Comprehensive overview of all macroeconomic indicators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383525" y="935377"/>
            <a:ext cx="11320800" cy="26400"/>
          </a:xfrm>
          <a:prstGeom prst="rect">
            <a:avLst/>
          </a:prstGeom>
          <a:gradFill>
            <a:gsLst>
              <a:gs pos="0">
                <a:srgbClr val="386641"/>
              </a:gs>
              <a:gs pos="50000">
                <a:srgbClr val="D4A373"/>
              </a:gs>
              <a:gs pos="100000">
                <a:srgbClr val="9B222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16"/>
          <p:cNvGraphicFramePr/>
          <p:nvPr/>
        </p:nvGraphicFramePr>
        <p:xfrm>
          <a:off x="91440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{9E5304A8-713D-4D7F-BC4E-349C65BB334B}</a:tableStyleId>
              </a:tblPr>
              <a:tblGrid>
                <a:gridCol w="2286000"/>
                <a:gridCol w="1828800"/>
                <a:gridCol w="1828800"/>
                <a:gridCol w="2286000"/>
                <a:gridCol w="1828800"/>
              </a:tblGrid>
              <a:tr h="535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Metric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9B22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Crisis Peak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9B22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Latest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9B22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Change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9B22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Signal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9B2226"/>
                    </a:solidFill>
                  </a:tcPr>
                </a:tc>
              </a:tr>
              <a:tr h="53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Unemployment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9B22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18.2%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5.6%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-12.6 pp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✓ Improved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3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Debt/GDP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9B22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137.5%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97.6%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-39.9 pp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✓ Improved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</a:tr>
              <a:tr h="53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Budget Balance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9B22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-10.3%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3.8%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+14.1 pp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✓ Improved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3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NPL Ratio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9B22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17.9%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2.2%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-15.7 pp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✓ Improved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</a:tr>
              <a:tr h="53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10Y Bond Yield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9B22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13.8%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3.1%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-10.7 pp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✓ Improved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3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GDP per Capita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9B22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€16,000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€28,390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€+12,390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✓ Improved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8" name="Google Shape;118;p16"/>
          <p:cNvSpPr/>
          <p:nvPr/>
        </p:nvSpPr>
        <p:spPr>
          <a:xfrm>
            <a:off x="914400" y="5391550"/>
            <a:ext cx="10058400" cy="640200"/>
          </a:xfrm>
          <a:prstGeom prst="roundRect">
            <a:avLst>
              <a:gd fmla="val 16667" name="adj"/>
            </a:avLst>
          </a:prstGeom>
          <a:solidFill>
            <a:srgbClr val="FDF6E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major macro indicator has improved since the crisis peak. The question is no longer 'will Portugal stabilise?' but 'can Portugal converge with core Europe?'</a:t>
            </a:r>
            <a:endParaRPr b="1" sz="1500"/>
          </a:p>
        </p:txBody>
      </p:sp>
      <p:sp>
        <p:nvSpPr>
          <p:cNvPr id="119" name="Google Shape;119;p16"/>
          <p:cNvSpPr txBox="1"/>
          <p:nvPr/>
        </p:nvSpPr>
        <p:spPr>
          <a:xfrm>
            <a:off x="772775" y="6446525"/>
            <a:ext cx="1065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 Data Intelligence  |  Slide 4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457200" y="181025"/>
            <a:ext cx="683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8664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Scorecard: Then vs Now</a:t>
            </a:r>
            <a:endParaRPr>
              <a:solidFill>
                <a:srgbClr val="386641"/>
              </a:solidFill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471458" y="5855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200">
                <a:solidFill>
                  <a:srgbClr val="2B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metrics at crisis peak (2013) vs latest data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383525" y="935377"/>
            <a:ext cx="11320800" cy="26400"/>
          </a:xfrm>
          <a:prstGeom prst="rect">
            <a:avLst/>
          </a:prstGeom>
          <a:gradFill>
            <a:gsLst>
              <a:gs pos="0">
                <a:srgbClr val="386641"/>
              </a:gs>
              <a:gs pos="50000">
                <a:srgbClr val="D4A373"/>
              </a:gs>
              <a:gs pos="100000">
                <a:srgbClr val="9B222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ublic_debt_sustainability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425" y="1040244"/>
            <a:ext cx="6772772" cy="48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/>
          <p:nvPr/>
        </p:nvSpPr>
        <p:spPr>
          <a:xfrm>
            <a:off x="7589520" y="1188720"/>
            <a:ext cx="4114800" cy="914400"/>
          </a:xfrm>
          <a:prstGeom prst="roundRect">
            <a:avLst>
              <a:gd fmla="val 16667" name="adj"/>
            </a:avLst>
          </a:prstGeom>
          <a:solidFill>
            <a:srgbClr val="9B22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97.6%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5EB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Debt-to-GDP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7589520" y="2286000"/>
            <a:ext cx="4114800" cy="914400"/>
          </a:xfrm>
          <a:prstGeom prst="roundRect">
            <a:avLst>
              <a:gd fmla="val 16667" name="adj"/>
            </a:avLst>
          </a:prstGeom>
          <a:solidFill>
            <a:srgbClr val="D4A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3.8%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5EB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Budget Balance (% GDP)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7589520" y="3383280"/>
            <a:ext cx="4114800" cy="914400"/>
          </a:xfrm>
          <a:prstGeom prst="roundRect">
            <a:avLst>
              <a:gd fmla="val 16667" name="adj"/>
            </a:avLst>
          </a:prstGeom>
          <a:solidFill>
            <a:srgbClr val="3866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137.5% (2021-Q1)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5EB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Peak Debt-to-GDP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7589525" y="4437780"/>
            <a:ext cx="4114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Total debt: €294.4bn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External share: 46.1%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Above Maastricht 60% threshold but improving</a:t>
            </a:r>
            <a:endParaRPr sz="1500"/>
          </a:p>
        </p:txBody>
      </p:sp>
      <p:sp>
        <p:nvSpPr>
          <p:cNvPr id="133" name="Google Shape;133;p17"/>
          <p:cNvSpPr/>
          <p:nvPr/>
        </p:nvSpPr>
        <p:spPr>
          <a:xfrm>
            <a:off x="542425" y="5857750"/>
            <a:ext cx="11162100" cy="457200"/>
          </a:xfrm>
          <a:prstGeom prst="roundRect">
            <a:avLst>
              <a:gd fmla="val 16667" name="adj"/>
            </a:avLst>
          </a:prstGeom>
          <a:solidFill>
            <a:srgbClr val="FDF6E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Debt below 100% of GDP for the first time since 2011, with a budget surplus. The policy imperative: use fiscal space for productivity investment, not consumption.</a:t>
            </a:r>
            <a:endParaRPr b="1" sz="1500"/>
          </a:p>
        </p:txBody>
      </p:sp>
      <p:sp>
        <p:nvSpPr>
          <p:cNvPr id="134" name="Google Shape;134;p1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 Data Intelligence  |  Slide 11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457200" y="181025"/>
            <a:ext cx="683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8664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Debt Below 100% for First Time Since 2011</a:t>
            </a:r>
            <a:endParaRPr>
              <a:solidFill>
                <a:srgbClr val="386641"/>
              </a:solidFill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471458" y="5855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B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Government debt, deficit, and sustainability metrics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383525" y="935377"/>
            <a:ext cx="11320800" cy="26400"/>
          </a:xfrm>
          <a:prstGeom prst="rect">
            <a:avLst/>
          </a:prstGeom>
          <a:gradFill>
            <a:gsLst>
              <a:gs pos="0">
                <a:srgbClr val="386641"/>
              </a:gs>
              <a:gs pos="50000">
                <a:srgbClr val="D4A373"/>
              </a:gs>
              <a:gs pos="100000">
                <a:srgbClr val="9B222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dit_portfolio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997459"/>
            <a:ext cx="6858000" cy="489859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/>
          <p:nvPr/>
        </p:nvSpPr>
        <p:spPr>
          <a:xfrm>
            <a:off x="7589520" y="1188720"/>
            <a:ext cx="4114800" cy="914400"/>
          </a:xfrm>
          <a:prstGeom prst="roundRect">
            <a:avLst>
              <a:gd fmla="val 16667" name="adj"/>
            </a:avLst>
          </a:prstGeom>
          <a:solidFill>
            <a:srgbClr val="9B22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€851.3bn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5EB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Credit Stock</a:t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7589520" y="2286000"/>
            <a:ext cx="4114800" cy="914400"/>
          </a:xfrm>
          <a:prstGeom prst="roundRect">
            <a:avLst>
              <a:gd fmla="val 16667" name="adj"/>
            </a:avLst>
          </a:prstGeom>
          <a:solidFill>
            <a:srgbClr val="D4A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2.2%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5EB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NPL Ratio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7589520" y="3383280"/>
            <a:ext cx="4114800" cy="914400"/>
          </a:xfrm>
          <a:prstGeom prst="roundRect">
            <a:avLst>
              <a:gd fmla="val 16667" name="adj"/>
            </a:avLst>
          </a:prstGeom>
          <a:solidFill>
            <a:srgbClr val="3866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17.9% (2016-06)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5EB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Peak NPL Ratio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7589520" y="4480560"/>
            <a:ext cx="4114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NFC lending: €307.4bn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Household lending: €172.9bn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NPL ratio improved significantly from peak</a:t>
            </a:r>
            <a:endParaRPr sz="1500"/>
          </a:p>
        </p:txBody>
      </p:sp>
      <p:sp>
        <p:nvSpPr>
          <p:cNvPr id="148" name="Google Shape;148;p18"/>
          <p:cNvSpPr/>
          <p:nvPr/>
        </p:nvSpPr>
        <p:spPr>
          <a:xfrm>
            <a:off x="383525" y="5894923"/>
            <a:ext cx="11320800" cy="457200"/>
          </a:xfrm>
          <a:prstGeom prst="roundRect">
            <a:avLst>
              <a:gd fmla="val 16667" name="adj"/>
            </a:avLst>
          </a:prstGeom>
          <a:solidFill>
            <a:srgbClr val="FDF6E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banking system is clean. NPL at 2% means banks can lend productively again. Watch the credit/GDP ratio (397%) — if credit quality deteriorates, the clean-up gains reverse.</a:t>
            </a:r>
            <a:endParaRPr b="1" sz="1500"/>
          </a:p>
        </p:txBody>
      </p:sp>
      <p:sp>
        <p:nvSpPr>
          <p:cNvPr id="149" name="Google Shape;149;p18"/>
          <p:cNvSpPr txBox="1"/>
          <p:nvPr/>
        </p:nvSpPr>
        <p:spPr>
          <a:xfrm>
            <a:off x="457200" y="6446520"/>
            <a:ext cx="10972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 Data Intelligence  |  Slide 9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457200" y="181025"/>
            <a:ext cx="861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8664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Banking Cleanup Complete: NPL From 17% to 2%</a:t>
            </a:r>
            <a:endParaRPr b="1" sz="2800">
              <a:solidFill>
                <a:srgbClr val="38664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38664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471458" y="5855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B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Bank lending and non-performing loan dynamics</a:t>
            </a:r>
            <a:endParaRPr sz="1200">
              <a:solidFill>
                <a:srgbClr val="2B2D4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B2D4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383525" y="935377"/>
            <a:ext cx="11320800" cy="26400"/>
          </a:xfrm>
          <a:prstGeom prst="rect">
            <a:avLst/>
          </a:prstGeom>
          <a:gradFill>
            <a:gsLst>
              <a:gs pos="0">
                <a:srgbClr val="386641"/>
              </a:gs>
              <a:gs pos="50000">
                <a:srgbClr val="D4A373"/>
              </a:gs>
              <a:gs pos="100000">
                <a:srgbClr val="9B222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est_rate_environment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093" y="983218"/>
            <a:ext cx="7040882" cy="502919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/>
          <p:nvPr/>
        </p:nvSpPr>
        <p:spPr>
          <a:xfrm>
            <a:off x="7589520" y="1188720"/>
            <a:ext cx="4114800" cy="914400"/>
          </a:xfrm>
          <a:prstGeom prst="roundRect">
            <a:avLst>
              <a:gd fmla="val 16667" name="adj"/>
            </a:avLst>
          </a:prstGeom>
          <a:solidFill>
            <a:srgbClr val="9B22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2.1%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5EB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ECB Main Refi Rate</a:t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7589520" y="2286000"/>
            <a:ext cx="4114800" cy="914400"/>
          </a:xfrm>
          <a:prstGeom prst="roundRect">
            <a:avLst>
              <a:gd fmla="val 16667" name="adj"/>
            </a:avLst>
          </a:prstGeom>
          <a:solidFill>
            <a:srgbClr val="D4A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2.0%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5EB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Euribor 3M</a:t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7589520" y="3383280"/>
            <a:ext cx="4114800" cy="914400"/>
          </a:xfrm>
          <a:prstGeom prst="roundRect">
            <a:avLst>
              <a:gd fmla="val 16667" name="adj"/>
            </a:avLst>
          </a:prstGeom>
          <a:solidFill>
            <a:srgbClr val="3866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3.1%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5EB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PT 10Y Bond Yield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7589520" y="4480560"/>
            <a:ext cx="4114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Euribor 12M: 2.3%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Sovereign spread: 0.9% over Euribor 12M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Peak yield: 13.8% (2012-01)</a:t>
            </a:r>
            <a:endParaRPr sz="1500"/>
          </a:p>
        </p:txBody>
      </p:sp>
      <p:sp>
        <p:nvSpPr>
          <p:cNvPr id="163" name="Google Shape;163;p19"/>
          <p:cNvSpPr/>
          <p:nvPr/>
        </p:nvSpPr>
        <p:spPr>
          <a:xfrm>
            <a:off x="472338" y="5897400"/>
            <a:ext cx="11247000" cy="457200"/>
          </a:xfrm>
          <a:prstGeom prst="roundRect">
            <a:avLst>
              <a:gd fmla="val 16667" name="adj"/>
            </a:avLst>
          </a:prstGeom>
          <a:solidFill>
            <a:srgbClr val="FDF6E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Sovereign risk is fully normalised. The spread compression from 1000bps to near-zero translates directly into lower refinancing costs and restored market confidence.</a:t>
            </a:r>
            <a:endParaRPr b="1" sz="1500"/>
          </a:p>
        </p:txBody>
      </p:sp>
      <p:sp>
        <p:nvSpPr>
          <p:cNvPr id="164" name="Google Shape;164;p1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 Data Intelligence  |  Slide 8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457200" y="181025"/>
            <a:ext cx="902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8664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Sovereign Risk Normalised: Spread Near Zero</a:t>
            </a:r>
            <a:endParaRPr b="1" sz="2800">
              <a:solidFill>
                <a:srgbClr val="38664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38664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471458" y="5855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B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ECB policy rates, Euribor, and sovereign yields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383525" y="935377"/>
            <a:ext cx="11320800" cy="26400"/>
          </a:xfrm>
          <a:prstGeom prst="rect">
            <a:avLst/>
          </a:prstGeom>
          <a:gradFill>
            <a:gsLst>
              <a:gs pos="0">
                <a:srgbClr val="386641"/>
              </a:gs>
              <a:gs pos="50000">
                <a:srgbClr val="D4A373"/>
              </a:gs>
              <a:gs pos="100000">
                <a:srgbClr val="9B222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dp_evolution.png"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067" y="1154306"/>
            <a:ext cx="7155589" cy="511113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/>
          <p:nvPr/>
        </p:nvSpPr>
        <p:spPr>
          <a:xfrm>
            <a:off x="7589520" y="1188720"/>
            <a:ext cx="4114800" cy="914400"/>
          </a:xfrm>
          <a:prstGeom prst="roundRect">
            <a:avLst>
              <a:gd fmla="val 16667" name="adj"/>
            </a:avLst>
          </a:prstGeom>
          <a:solidFill>
            <a:srgbClr val="9B22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€78.5bn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5EB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Latest Nominal GDP</a:t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7589520" y="2286000"/>
            <a:ext cx="4114800" cy="914400"/>
          </a:xfrm>
          <a:prstGeom prst="roundRect">
            <a:avLst>
              <a:gd fmla="val 16667" name="adj"/>
            </a:avLst>
          </a:prstGeom>
          <a:solidFill>
            <a:srgbClr val="D4A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6.0%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5EB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Growth Rate</a:t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7589520" y="3383280"/>
            <a:ext cx="4114800" cy="914400"/>
          </a:xfrm>
          <a:prstGeom prst="roundRect">
            <a:avLst>
              <a:gd fmla="val 16667" name="adj"/>
            </a:avLst>
          </a:prstGeom>
          <a:solidFill>
            <a:srgbClr val="3866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€28.4bn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5EB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GDP per Capita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7589520" y="4480560"/>
            <a:ext cx="4114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Deepest contraction: -14.5% (2020-Q2)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Strongest growth: 17.2% (2021-Q2)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Period: 2025-Q4</a:t>
            </a:r>
            <a:endParaRPr sz="1500"/>
          </a:p>
        </p:txBody>
      </p:sp>
      <p:sp>
        <p:nvSpPr>
          <p:cNvPr id="178" name="Google Shape;178;p20"/>
          <p:cNvSpPr txBox="1"/>
          <p:nvPr/>
        </p:nvSpPr>
        <p:spPr>
          <a:xfrm>
            <a:off x="1656750" y="6446525"/>
            <a:ext cx="977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 Data Intelligence  |  Slide 5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457200" y="181025"/>
            <a:ext cx="683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8664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GDP: 75.2% Cumulative Growth Since 2010</a:t>
            </a:r>
            <a:endParaRPr>
              <a:solidFill>
                <a:srgbClr val="386641"/>
              </a:solidFill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71458" y="5855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B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Nominal GDP evolution and year-on-year growth trajectory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383525" y="935377"/>
            <a:ext cx="11320800" cy="26400"/>
          </a:xfrm>
          <a:prstGeom prst="rect">
            <a:avLst/>
          </a:prstGeom>
          <a:gradFill>
            <a:gsLst>
              <a:gs pos="0">
                <a:srgbClr val="386641"/>
              </a:gs>
              <a:gs pos="50000">
                <a:srgbClr val="D4A373"/>
              </a:gs>
              <a:gs pos="100000">
                <a:srgbClr val="9B222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" name="Google Shape;187;p21"/>
          <p:cNvGraphicFramePr/>
          <p:nvPr/>
        </p:nvGraphicFramePr>
        <p:xfrm>
          <a:off x="91440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{9E5304A8-713D-4D7F-BC4E-349C65BB334B}</a:tableStyleId>
              </a:tblPr>
              <a:tblGrid>
                <a:gridCol w="3892750"/>
                <a:gridCol w="2780525"/>
                <a:gridCol w="2224425"/>
              </a:tblGrid>
              <a:tr h="49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Economic Period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9B22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Avg. GDP Growth (YoY)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9B22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Assessment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9B222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Pre-crisis (2010-2011)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B22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-2.0%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Contraction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Troika (2012-2014)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B222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-0.5%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Weak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Recovery (2015-2019)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4.4%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Strong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COVID (2020-2021)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Moderate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5F5F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Post-COVID (2022+)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9.2%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Strong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8" name="Google Shape;188;p21"/>
          <p:cNvSpPr/>
          <p:nvPr/>
        </p:nvSpPr>
        <p:spPr>
          <a:xfrm>
            <a:off x="914400" y="4846325"/>
            <a:ext cx="8897700" cy="1097400"/>
          </a:xfrm>
          <a:prstGeom prst="roundRect">
            <a:avLst>
              <a:gd fmla="val 16667" name="adj"/>
            </a:avLst>
          </a:prstGeom>
          <a:solidFill>
            <a:srgbClr val="F5EB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FINDING:  </a:t>
            </a:r>
            <a:r>
              <a:rPr lang="en-US" sz="13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Portugal's economy demonstrated remarkable resilience, achieving cumulative growth of 75.2% over 2010–2025 despite sovereign debt and pandemic crises.</a:t>
            </a:r>
            <a:endParaRPr sz="1600"/>
          </a:p>
        </p:txBody>
      </p:sp>
      <p:sp>
        <p:nvSpPr>
          <p:cNvPr id="189" name="Google Shape;189;p2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 Data Intelligence  |  Slide 6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457200" y="181025"/>
            <a:ext cx="683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8664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GDP Deep Dive</a:t>
            </a:r>
            <a:endParaRPr>
              <a:solidFill>
                <a:srgbClr val="386641"/>
              </a:solidFill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71458" y="5855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B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Average growth rates across economic periods</a:t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383525" y="935377"/>
            <a:ext cx="11320800" cy="26400"/>
          </a:xfrm>
          <a:prstGeom prst="rect">
            <a:avLst/>
          </a:prstGeom>
          <a:gradFill>
            <a:gsLst>
              <a:gs pos="0">
                <a:srgbClr val="386641"/>
              </a:gs>
              <a:gs pos="50000">
                <a:srgbClr val="D4A373"/>
              </a:gs>
              <a:gs pos="100000">
                <a:srgbClr val="9B222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employment_trends.png" id="198" name="Google Shape;1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093" y="926186"/>
            <a:ext cx="7040882" cy="502919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/>
          <p:nvPr/>
        </p:nvSpPr>
        <p:spPr>
          <a:xfrm>
            <a:off x="7589520" y="1188720"/>
            <a:ext cx="4114800" cy="914400"/>
          </a:xfrm>
          <a:prstGeom prst="roundRect">
            <a:avLst>
              <a:gd fmla="val 16667" name="adj"/>
            </a:avLst>
          </a:prstGeom>
          <a:solidFill>
            <a:srgbClr val="9B22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5.6%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5EB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Current Unemployment</a:t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7589520" y="2286000"/>
            <a:ext cx="4114800" cy="914400"/>
          </a:xfrm>
          <a:prstGeom prst="roundRect">
            <a:avLst>
              <a:gd fmla="val 16667" name="adj"/>
            </a:avLst>
          </a:prstGeom>
          <a:solidFill>
            <a:srgbClr val="D4A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18.6%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5EB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Youth Unemployment</a:t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7589520" y="3383280"/>
            <a:ext cx="4114800" cy="914400"/>
          </a:xfrm>
          <a:prstGeom prst="roundRect">
            <a:avLst>
              <a:gd fmla="val 16667" name="adj"/>
            </a:avLst>
          </a:prstGeom>
          <a:solidFill>
            <a:srgbClr val="3866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18.2% (2012-12)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5EB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Peak Rate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7589520" y="4480560"/>
            <a:ext cx="4114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Participation rate: 79.1%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Long-term rate: 2.0%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Significant improvement from crisis peaks</a:t>
            </a:r>
            <a:endParaRPr sz="1500"/>
          </a:p>
        </p:txBody>
      </p:sp>
      <p:sp>
        <p:nvSpPr>
          <p:cNvPr id="203" name="Google Shape;203;p22"/>
          <p:cNvSpPr/>
          <p:nvPr/>
        </p:nvSpPr>
        <p:spPr>
          <a:xfrm>
            <a:off x="383525" y="5822875"/>
            <a:ext cx="11320800" cy="548700"/>
          </a:xfrm>
          <a:prstGeom prst="roundRect">
            <a:avLst>
              <a:gd fmla="val 16667" name="adj"/>
            </a:avLst>
          </a:prstGeom>
          <a:solidFill>
            <a:srgbClr val="FDF6E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labour market is no longer a vulnerability. At 6% unemployment, Portugal matches the EU average. The remaining risk is youth unemployment (19%) — a skills mismatch problem requiring education reform, not macro stimulus.</a:t>
            </a:r>
            <a:endParaRPr b="1" sz="1500"/>
          </a:p>
        </p:txBody>
      </p:sp>
      <p:sp>
        <p:nvSpPr>
          <p:cNvPr id="204" name="Google Shape;204;p22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 Data Intelligence  |  Slide 7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457200" y="181025"/>
            <a:ext cx="683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8664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Unemployment Halved: From 17% to 6%</a:t>
            </a:r>
            <a:endParaRPr>
              <a:solidFill>
                <a:srgbClr val="386641"/>
              </a:solidFill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471458" y="5855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B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Labour market recovery across all segments</a:t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383525" y="935377"/>
            <a:ext cx="11320800" cy="26400"/>
          </a:xfrm>
          <a:prstGeom prst="rect">
            <a:avLst/>
          </a:prstGeom>
          <a:gradFill>
            <a:gsLst>
              <a:gs pos="0">
                <a:srgbClr val="386641"/>
              </a:gs>
              <a:gs pos="50000">
                <a:srgbClr val="D4A373"/>
              </a:gs>
              <a:gs pos="100000">
                <a:srgbClr val="9B222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flation_dashboard.png" id="213" name="Google Shape;2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84" y="910168"/>
            <a:ext cx="6943553" cy="495968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/>
          <p:nvPr/>
        </p:nvSpPr>
        <p:spPr>
          <a:xfrm>
            <a:off x="7589520" y="1188720"/>
            <a:ext cx="4114800" cy="914400"/>
          </a:xfrm>
          <a:prstGeom prst="roundRect">
            <a:avLst>
              <a:gd fmla="val 16667" name="adj"/>
            </a:avLst>
          </a:prstGeom>
          <a:solidFill>
            <a:srgbClr val="9B22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2.4%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5EB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Current HICP</a:t>
            </a:r>
            <a:endParaRPr/>
          </a:p>
        </p:txBody>
      </p:sp>
      <p:sp>
        <p:nvSpPr>
          <p:cNvPr id="215" name="Google Shape;215;p23"/>
          <p:cNvSpPr/>
          <p:nvPr/>
        </p:nvSpPr>
        <p:spPr>
          <a:xfrm>
            <a:off x="7589520" y="2286000"/>
            <a:ext cx="4114800" cy="914400"/>
          </a:xfrm>
          <a:prstGeom prst="roundRect">
            <a:avLst>
              <a:gd fmla="val 16667" name="adj"/>
            </a:avLst>
          </a:prstGeom>
          <a:solidFill>
            <a:srgbClr val="D4A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2.6%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5EB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Inflation</a:t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7589520" y="3383280"/>
            <a:ext cx="4114800" cy="914400"/>
          </a:xfrm>
          <a:prstGeom prst="roundRect">
            <a:avLst>
              <a:gd fmla="val 16667" name="adj"/>
            </a:avLst>
          </a:prstGeom>
          <a:solidFill>
            <a:srgbClr val="3866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2.0%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5EB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ECB Target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7589520" y="4480560"/>
            <a:ext cx="4114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CPI: 2.3%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Peak HICP: 10.6% (2022-10)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Currently above ECB 2% target</a:t>
            </a:r>
            <a:endParaRPr sz="1500"/>
          </a:p>
        </p:txBody>
      </p:sp>
      <p:sp>
        <p:nvSpPr>
          <p:cNvPr id="218" name="Google Shape;218;p23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 Data Intelligence  |  Slide 10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457200" y="181025"/>
            <a:ext cx="817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8664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Inflation: Energy Shock Absorbed, Back to Target</a:t>
            </a:r>
            <a:endParaRPr>
              <a:solidFill>
                <a:srgbClr val="386641"/>
              </a:solidFill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471458" y="5855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B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HICP, CPI, and core inflation trends</a:t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383525" y="935377"/>
            <a:ext cx="11320800" cy="26400"/>
          </a:xfrm>
          <a:prstGeom prst="rect">
            <a:avLst/>
          </a:prstGeom>
          <a:gradFill>
            <a:gsLst>
              <a:gs pos="0">
                <a:srgbClr val="386641"/>
              </a:gs>
              <a:gs pos="50000">
                <a:srgbClr val="D4A373"/>
              </a:gs>
              <a:gs pos="100000">
                <a:srgbClr val="9B222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457200" y="5831064"/>
            <a:ext cx="11247300" cy="578100"/>
          </a:xfrm>
          <a:prstGeom prst="roundRect">
            <a:avLst>
              <a:gd fmla="val 16667" name="adj"/>
            </a:avLst>
          </a:prstGeom>
          <a:solidFill>
            <a:srgbClr val="FDF6E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</a:t>
            </a:r>
            <a:r>
              <a:rPr b="1" lang="en-US" sz="11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 2022 energy shock was absorbed without a wage-price spiral. Inflation is back near the ECB 2% target. Paradoxically, the inflation spike accelerated debt/GDP reduction via nominal GDP growth.</a:t>
            </a:r>
            <a:endParaRPr b="1"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nchmark_radar_pt_vs_eu.png"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97280"/>
            <a:ext cx="5760720" cy="502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enchmark_small_multiples.png" id="229" name="Google Shape;22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1097280"/>
            <a:ext cx="5760720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99999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Sources: Eurostat, ECB, Banco de Portugal  |  EU-27 weighted averages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 Data Intelligence  |  Slide 15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457200" y="181025"/>
            <a:ext cx="683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8664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Converging With Europe: Gaps Closing</a:t>
            </a:r>
            <a:endParaRPr b="1" sz="2800">
              <a:solidFill>
                <a:srgbClr val="38664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38664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471458" y="5855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B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 performance relative to European averages</a:t>
            </a:r>
            <a:endParaRPr/>
          </a:p>
        </p:txBody>
      </p:sp>
      <p:sp>
        <p:nvSpPr>
          <p:cNvPr id="234" name="Google Shape;234;p24"/>
          <p:cNvSpPr/>
          <p:nvPr/>
        </p:nvSpPr>
        <p:spPr>
          <a:xfrm>
            <a:off x="383525" y="935377"/>
            <a:ext cx="11320800" cy="26400"/>
          </a:xfrm>
          <a:prstGeom prst="rect">
            <a:avLst/>
          </a:prstGeom>
          <a:gradFill>
            <a:gsLst>
              <a:gs pos="0">
                <a:srgbClr val="386641"/>
              </a:gs>
              <a:gs pos="50000">
                <a:srgbClr val="D4A373"/>
              </a:gs>
              <a:gs pos="100000">
                <a:srgbClr val="9B222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rrelation_heatmap.png" id="240" name="Google Shape;2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880" y="1111550"/>
            <a:ext cx="7501377" cy="543847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/>
        </p:nvSpPr>
        <p:spPr>
          <a:xfrm>
            <a:off x="8046720" y="1371600"/>
            <a:ext cx="384048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Correlations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GDP growth is inversely correlated with unemployment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Interest rates strongly influence credit dynamics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Public debt rises during low-growth periods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Inflation shows complex relationships with all pillars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Post-crisis deleveraging visible across credit and debt</a:t>
            </a:r>
            <a:endParaRPr/>
          </a:p>
        </p:txBody>
      </p:sp>
      <p:sp>
        <p:nvSpPr>
          <p:cNvPr id="242" name="Google Shape;242;p25"/>
          <p:cNvSpPr/>
          <p:nvPr/>
        </p:nvSpPr>
        <p:spPr>
          <a:xfrm>
            <a:off x="8046725" y="3741250"/>
            <a:ext cx="3657600" cy="1582500"/>
          </a:xfrm>
          <a:prstGeom prst="roundRect">
            <a:avLst>
              <a:gd fmla="val 16667" name="adj"/>
            </a:avLst>
          </a:prstGeom>
          <a:solidFill>
            <a:srgbClr val="9B22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Strong correlations between unemployment-NPL (r=0.86) and ECB rate-Euribor (r=0.96) confirm tight monetary transmission. These linkages amplify both recovery and risk.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243" name="Google Shape;243;p2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 Data Intelligence  |  Slide 12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457200" y="181025"/>
            <a:ext cx="683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8664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the Pillars Connect</a:t>
            </a:r>
            <a:endParaRPr>
              <a:solidFill>
                <a:srgbClr val="386641"/>
              </a:solidFill>
            </a:endParaRPr>
          </a:p>
        </p:txBody>
      </p:sp>
      <p:sp>
        <p:nvSpPr>
          <p:cNvPr id="245" name="Google Shape;245;p25"/>
          <p:cNvSpPr txBox="1"/>
          <p:nvPr/>
        </p:nvSpPr>
        <p:spPr>
          <a:xfrm>
            <a:off x="471458" y="5855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B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Interdependencies between macroeconomic indicators</a:t>
            </a:r>
            <a:endParaRPr sz="1200">
              <a:solidFill>
                <a:srgbClr val="2B2D4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B2D4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383525" y="935377"/>
            <a:ext cx="11320800" cy="26400"/>
          </a:xfrm>
          <a:prstGeom prst="rect">
            <a:avLst/>
          </a:prstGeom>
          <a:gradFill>
            <a:gsLst>
              <a:gs pos="0">
                <a:srgbClr val="386641"/>
              </a:gs>
              <a:gs pos="50000">
                <a:srgbClr val="D4A373"/>
              </a:gs>
              <a:gs pos="100000">
                <a:srgbClr val="9B222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isis_timeline.png" id="252" name="Google Shape;2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08787"/>
            <a:ext cx="11612877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 txBox="1"/>
          <p:nvPr/>
        </p:nvSpPr>
        <p:spPr>
          <a:xfrm>
            <a:off x="457200" y="5832009"/>
            <a:ext cx="11247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events:  Eurozone Debt Crisis (2010–12)  │  Troika Bailout (2011–14)  │  Recovery &amp; Tourism Boom (2015–19)  │  COVID-19 Pandemic (2020–21)  │  Energy Crisis &amp; Inflation Surge (2022–23)  │  Monetary Tightening (2022–24)</a:t>
            </a:r>
            <a:endParaRPr sz="1300"/>
          </a:p>
        </p:txBody>
      </p:sp>
      <p:sp>
        <p:nvSpPr>
          <p:cNvPr id="254" name="Google Shape;254;p26"/>
          <p:cNvSpPr/>
          <p:nvPr/>
        </p:nvSpPr>
        <p:spPr>
          <a:xfrm>
            <a:off x="383525" y="5623575"/>
            <a:ext cx="11320800" cy="320100"/>
          </a:xfrm>
          <a:prstGeom prst="roundRect">
            <a:avLst>
              <a:gd fmla="val 16667" name="adj"/>
            </a:avLst>
          </a:prstGeom>
          <a:solidFill>
            <a:srgbClr val="FDF6E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</a:t>
            </a:r>
            <a:r>
              <a:rPr b="1" lang="en-US" sz="11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major shocks in 15 years, each with different transmission channels. The economy’s response time shortened with each shock — a sign of institutional learning.</a:t>
            </a:r>
            <a:endParaRPr b="1" sz="1500"/>
          </a:p>
        </p:txBody>
      </p:sp>
      <p:sp>
        <p:nvSpPr>
          <p:cNvPr id="255" name="Google Shape;255;p2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 Data Intelligence  |  Slide 14</a:t>
            </a: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457200" y="181025"/>
            <a:ext cx="892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8664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 Years in Perspective: Four Shocks, One Trajectory</a:t>
            </a:r>
            <a:endParaRPr>
              <a:solidFill>
                <a:srgbClr val="386641"/>
              </a:solidFill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471458" y="5855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B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Major economic events impacting Portugal (2010–2025)</a:t>
            </a:r>
            <a:endParaRPr/>
          </a:p>
        </p:txBody>
      </p:sp>
      <p:sp>
        <p:nvSpPr>
          <p:cNvPr id="258" name="Google Shape;258;p26"/>
          <p:cNvSpPr/>
          <p:nvPr/>
        </p:nvSpPr>
        <p:spPr>
          <a:xfrm>
            <a:off x="383525" y="935377"/>
            <a:ext cx="11320800" cy="26400"/>
          </a:xfrm>
          <a:prstGeom prst="rect">
            <a:avLst/>
          </a:prstGeom>
          <a:gradFill>
            <a:gsLst>
              <a:gs pos="0">
                <a:srgbClr val="386641"/>
              </a:gs>
              <a:gs pos="50000">
                <a:srgbClr val="D4A373"/>
              </a:gs>
              <a:gs pos="100000">
                <a:srgbClr val="9B222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4" name="Google Shape;264;p27"/>
          <p:cNvGraphicFramePr/>
          <p:nvPr/>
        </p:nvGraphicFramePr>
        <p:xfrm>
          <a:off x="457200" y="1280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{9E5304A8-713D-4D7F-BC4E-349C65BB334B}</a:tableStyleId>
              </a:tblPr>
              <a:tblGrid>
                <a:gridCol w="1635500"/>
                <a:gridCol w="1362900"/>
                <a:gridCol w="3180100"/>
                <a:gridCol w="2725800"/>
                <a:gridCol w="2271500"/>
              </a:tblGrid>
              <a:tr h="672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Pillar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9B22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Risk Level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9B22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Key Risk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9B22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Mitigation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9B22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Status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9B2226"/>
                    </a:solidFill>
                  </a:tcPr>
                </a:tc>
              </a:tr>
              <a:tr h="67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GDP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LOW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Growth slowdown / recession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Diversify economic drivers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● LOW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0F7F0"/>
                    </a:solidFill>
                  </a:tcPr>
                </a:tc>
              </a:tr>
              <a:tr h="67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Unemployment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LOW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Structural unemployment persistence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Active labour market policies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● LOW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0F7F0"/>
                    </a:solidFill>
                  </a:tcPr>
                </a:tc>
              </a:tr>
              <a:tr h="67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Credit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LOW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NPL deterioration in tightening cycle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Prudential supervision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● LOW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0F7F0"/>
                    </a:solidFill>
                  </a:tcPr>
                </a:tc>
              </a:tr>
              <a:tr h="67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Inflation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LOW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Price stability deviation from target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ECB policy pass-through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8664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● LOW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0F7F0"/>
                    </a:solidFill>
                  </a:tcPr>
                </a:tc>
              </a:tr>
              <a:tr h="67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Public Debt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4A3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MEDIUM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Debt sustainability pressure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Fiscal consolidation programme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4A3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● MEDIUM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DF6EC"/>
                    </a:solidFill>
                  </a:tcPr>
                </a:tc>
              </a:tr>
              <a:tr h="67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Interest Rates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4A3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MEDIUM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Sovereign spread widening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Credible fiscal framework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DF6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4A3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● MEDIUM</a:t>
                      </a:r>
                      <a:endParaRPr sz="1600"/>
                    </a:p>
                  </a:txBody>
                  <a:tcPr marT="45725" marB="45725" marR="91450" marL="91450" anchor="ctr">
                    <a:solidFill>
                      <a:srgbClr val="FDF6EC"/>
                    </a:solidFill>
                  </a:tcPr>
                </a:tc>
              </a:tr>
            </a:tbl>
          </a:graphicData>
        </a:graphic>
      </p:graphicFrame>
      <p:sp>
        <p:nvSpPr>
          <p:cNvPr id="265" name="Google Shape;265;p2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 Data Intelligence  |  Slide 17</a:t>
            </a:r>
            <a:endParaRPr/>
          </a:p>
        </p:txBody>
      </p:sp>
      <p:sp>
        <p:nvSpPr>
          <p:cNvPr id="266" name="Google Shape;266;p27"/>
          <p:cNvSpPr txBox="1"/>
          <p:nvPr/>
        </p:nvSpPr>
        <p:spPr>
          <a:xfrm>
            <a:off x="457200" y="181025"/>
            <a:ext cx="683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8664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Risk Matrix</a:t>
            </a:r>
            <a:endParaRPr>
              <a:solidFill>
                <a:srgbClr val="386641"/>
              </a:solidFill>
            </a:endParaRPr>
          </a:p>
        </p:txBody>
      </p:sp>
      <p:sp>
        <p:nvSpPr>
          <p:cNvPr id="267" name="Google Shape;267;p27"/>
          <p:cNvSpPr txBox="1"/>
          <p:nvPr/>
        </p:nvSpPr>
        <p:spPr>
          <a:xfrm>
            <a:off x="471458" y="5855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B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Pillar-level risk assessment and mitigations</a:t>
            </a: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383525" y="935377"/>
            <a:ext cx="11320800" cy="26400"/>
          </a:xfrm>
          <a:prstGeom prst="rect">
            <a:avLst/>
          </a:prstGeom>
          <a:gradFill>
            <a:gsLst>
              <a:gs pos="0">
                <a:srgbClr val="386641"/>
              </a:gs>
              <a:gs pos="50000">
                <a:srgbClr val="D4A373"/>
              </a:gs>
              <a:gs pos="100000">
                <a:srgbClr val="9B222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 txBox="1"/>
          <p:nvPr/>
        </p:nvSpPr>
        <p:spPr>
          <a:xfrm>
            <a:off x="731520" y="1188720"/>
            <a:ext cx="105156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SHORT-TERM  (0–12 months)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▸  Protect the budget surplus — resist expansionary pressure to preserve fiscal credibility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▸  Monitor credit/GDP ratio — total credit growing faster than GDP despite NPL at 2.2%</a:t>
            </a:r>
            <a:endParaRPr sz="1500"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MEDIUM-TERM  (1–3 years)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▸  Address youth unemployment (17% est.) — dual-education programmes and first-job incentives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▸  Accelerate debt reduction from 98% towards 80% — use surplus for amortisation, not spending</a:t>
            </a:r>
            <a:endParaRPr sz="1500"/>
          </a:p>
          <a:p>
            <a:pPr indent="0" lvl="0" marL="0" marR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LONG-TERM  (3–5+ years)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▸  Close the productivity gap — GDP per capita still ~70% of EU average; invest in I&amp;D above 2% GDP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▸  Build counter-cyclical fiscal buffers for the next downturn — stabilisation fund from surplus years</a:t>
            </a:r>
            <a:endParaRPr sz="1500"/>
          </a:p>
        </p:txBody>
      </p:sp>
      <p:sp>
        <p:nvSpPr>
          <p:cNvPr id="275" name="Google Shape;275;p2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 Data Intelligence  |  Slide 16</a:t>
            </a:r>
            <a:endParaRPr/>
          </a:p>
        </p:txBody>
      </p:sp>
      <p:sp>
        <p:nvSpPr>
          <p:cNvPr id="276" name="Google Shape;276;p28"/>
          <p:cNvSpPr txBox="1"/>
          <p:nvPr/>
        </p:nvSpPr>
        <p:spPr>
          <a:xfrm>
            <a:off x="457200" y="181025"/>
            <a:ext cx="683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8664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Recommendations</a:t>
            </a:r>
            <a:endParaRPr>
              <a:solidFill>
                <a:srgbClr val="386641"/>
              </a:solidFill>
            </a:endParaRPr>
          </a:p>
        </p:txBody>
      </p:sp>
      <p:sp>
        <p:nvSpPr>
          <p:cNvPr id="277" name="Google Shape;277;p28"/>
          <p:cNvSpPr txBox="1"/>
          <p:nvPr/>
        </p:nvSpPr>
        <p:spPr>
          <a:xfrm>
            <a:off x="471458" y="5855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B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Evidence-based policy and investment considerations</a:t>
            </a:r>
            <a:endParaRPr sz="1200">
              <a:solidFill>
                <a:srgbClr val="2B2D4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B2D4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383525" y="935377"/>
            <a:ext cx="11320800" cy="26400"/>
          </a:xfrm>
          <a:prstGeom prst="rect">
            <a:avLst/>
          </a:prstGeom>
          <a:gradFill>
            <a:gsLst>
              <a:gs pos="0">
                <a:srgbClr val="386641"/>
              </a:gs>
              <a:gs pos="50000">
                <a:srgbClr val="D4A373"/>
              </a:gs>
              <a:gs pos="100000">
                <a:srgbClr val="9B222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conomic_dashboard.png" id="283" name="Google Shape;28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5" y="931014"/>
            <a:ext cx="11612875" cy="4981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9"/>
          <p:cNvSpPr/>
          <p:nvPr/>
        </p:nvSpPr>
        <p:spPr>
          <a:xfrm>
            <a:off x="383650" y="5871385"/>
            <a:ext cx="11320800" cy="457200"/>
          </a:xfrm>
          <a:prstGeom prst="roundRect">
            <a:avLst>
              <a:gd fmla="val 16667" name="adj"/>
            </a:avLst>
          </a:prstGeom>
          <a:solidFill>
            <a:srgbClr val="FDF6E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r>
              <a:rPr b="1" lang="en-US" sz="1100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ll six indicators show the same arc: crisis (2010-2013), recovery (2014-2019), COVID dip (2020), and normalisation (2021-2025). The consistency across pillars confirms this is structural, not cyclical.</a:t>
            </a:r>
            <a:endParaRPr b="1" sz="1500"/>
          </a:p>
        </p:txBody>
      </p:sp>
      <p:sp>
        <p:nvSpPr>
          <p:cNvPr id="285" name="Google Shape;285;p29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9B22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 Data Intelligence  |  Slide 5</a:t>
            </a:r>
            <a:endParaRPr/>
          </a:p>
        </p:txBody>
      </p:sp>
      <p:sp>
        <p:nvSpPr>
          <p:cNvPr id="286" name="Google Shape;286;p29"/>
          <p:cNvSpPr txBox="1"/>
          <p:nvPr/>
        </p:nvSpPr>
        <p:spPr>
          <a:xfrm>
            <a:off x="457200" y="181025"/>
            <a:ext cx="683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8664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Six Pillars, One Story</a:t>
            </a:r>
            <a:endParaRPr>
              <a:solidFill>
                <a:srgbClr val="386641"/>
              </a:solidFill>
            </a:endParaRPr>
          </a:p>
        </p:txBody>
      </p:sp>
      <p:sp>
        <p:nvSpPr>
          <p:cNvPr id="287" name="Google Shape;287;p29"/>
          <p:cNvSpPr txBox="1"/>
          <p:nvPr/>
        </p:nvSpPr>
        <p:spPr>
          <a:xfrm>
            <a:off x="471458" y="5855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B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indicators confirm the recovery-to-stability trajectory</a:t>
            </a:r>
            <a:endParaRPr/>
          </a:p>
        </p:txBody>
      </p:sp>
      <p:sp>
        <p:nvSpPr>
          <p:cNvPr id="288" name="Google Shape;288;p29"/>
          <p:cNvSpPr/>
          <p:nvPr/>
        </p:nvSpPr>
        <p:spPr>
          <a:xfrm>
            <a:off x="383525" y="935377"/>
            <a:ext cx="11320800" cy="26400"/>
          </a:xfrm>
          <a:prstGeom prst="rect">
            <a:avLst/>
          </a:prstGeom>
          <a:gradFill>
            <a:gsLst>
              <a:gs pos="0">
                <a:srgbClr val="386641"/>
              </a:gs>
              <a:gs pos="50000">
                <a:srgbClr val="D4A373"/>
              </a:gs>
              <a:gs pos="100000">
                <a:srgbClr val="9B222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D42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0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/>
          </a:p>
        </p:txBody>
      </p:sp>
      <p:sp>
        <p:nvSpPr>
          <p:cNvPr id="294" name="Google Shape;294;p30"/>
          <p:cNvSpPr/>
          <p:nvPr/>
        </p:nvSpPr>
        <p:spPr>
          <a:xfrm>
            <a:off x="4572000" y="3108960"/>
            <a:ext cx="3017520" cy="27432"/>
          </a:xfrm>
          <a:prstGeom prst="rect">
            <a:avLst/>
          </a:prstGeom>
          <a:gradFill>
            <a:gsLst>
              <a:gs pos="0">
                <a:srgbClr val="386641"/>
              </a:gs>
              <a:gs pos="50000">
                <a:srgbClr val="D4A373"/>
              </a:gs>
              <a:gs pos="100000">
                <a:srgbClr val="9B222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5EB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Portugal Data Intelligence 2026</a:t>
            </a:r>
            <a:endParaRPr/>
          </a:p>
        </p:txBody>
      </p:sp>
      <p:sp>
        <p:nvSpPr>
          <p:cNvPr id="296" name="Google Shape;296;p30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